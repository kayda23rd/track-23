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7" d="100"/>
          <a:sy n="37" d="100"/>
        </p:scale>
        <p:origin x="916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4008D-BD08-E2B8-E706-D69A8EB615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16DE5B-8148-84CB-7EFA-6793E96D1D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3E5F83-32F5-9D47-36E4-0DFB4D015D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4D35C4-8430-4174-85E2-FE813F3E40A0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44DC0F-2954-91A8-D8D5-7C3EDED38A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C61A7E-5DE2-D3B1-F35B-9861A606FF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078F3-69DA-462D-A8B4-EF978B7093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4752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C4120F-40D4-7E10-CE1E-0471459DE3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4E647C-153D-CE30-5999-8DE8AA9596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6774F0-DF88-DAB8-00F4-F4745F7D81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4D35C4-8430-4174-85E2-FE813F3E40A0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ACC2C7-A061-E8D1-6123-16D41DA40C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636270-BF91-C039-00AC-99EA3B849D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078F3-69DA-462D-A8B4-EF978B7093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1545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47EEE7-7209-A609-A65A-4C47ADB916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2368FA-72BE-383C-2F79-329475260A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9D69FD-549B-47DA-EF01-DA04F967F6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4D35C4-8430-4174-85E2-FE813F3E40A0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BE014C-5C66-1C27-20EC-338359DADB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5CDEF2-1C2B-9D21-F783-A9D0B87AD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078F3-69DA-462D-A8B4-EF978B7093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8361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34919A-F340-4956-B65D-019C22998B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4085A7-DCD4-254D-CD2B-60E710D9FF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6B59B1-1F3F-1D46-4D17-09781723EB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A05B5C-7C83-F2E4-89F0-4FD238910C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4D35C4-8430-4174-85E2-FE813F3E40A0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57DCDB-5F2A-FAA6-01E8-462F108E3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C082D6-B49B-3F90-1E2D-9B8A594489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078F3-69DA-462D-A8B4-EF978B7093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57821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AEBDD2-54D0-0C47-32E0-C35B798DD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C4AD57-51FF-7371-9E00-7A44FE6E77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B887FE-D132-EA2C-2333-B1F0DB4060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87790DB-6827-A2EB-8186-2904F4085C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086207F-C079-8456-EEA5-A36CEEA699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B8D655C-51EA-2FF6-C8FF-914B5D98FB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4D35C4-8430-4174-85E2-FE813F3E40A0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12BDEE3-EFAD-E862-9EF7-22A4B97ED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63E35A-6C67-F4BF-2BE9-A458A8799B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078F3-69DA-462D-A8B4-EF978B7093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70453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ACBD22-3CD6-DDEF-606F-23EE8C09DF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2B9514-DBAC-10E3-984D-9F65D637E7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4D35C4-8430-4174-85E2-FE813F3E40A0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11BE64-ED61-8BF6-1940-E48ACC47AE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0982E2-3E79-DC00-1638-478B8623A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078F3-69DA-462D-A8B4-EF978B7093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0991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3B2359B-F948-FBFB-C0F9-946FA5E375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4D35C4-8430-4174-85E2-FE813F3E40A0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39E8AE-8BF4-7BDA-57A4-CD7A885091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7E8D29-B13F-7531-2306-E11AD3DFF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078F3-69DA-462D-A8B4-EF978B7093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06416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B67DFD-41BB-A698-684E-882864A244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5B9FB7-9E5C-7450-62DD-5BDB862D9C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A58222-D68B-792F-35DA-A754B498E5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09B7FB-DBED-513C-AA47-B588B89445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4D35C4-8430-4174-85E2-FE813F3E40A0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B478A7-2A32-2BBC-887C-10654A3CD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01BB1A-2B83-38B3-4DC9-BBF56E640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078F3-69DA-462D-A8B4-EF978B7093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2922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7144A3-399B-FCD2-1DDC-A02AF5A978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8577A98-E8DE-EF89-C9B3-2DF30924FC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2049EA-8CF1-4465-B907-26FFA7091A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F890AF-F970-205C-8CD9-74943E2D38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4D35C4-8430-4174-85E2-FE813F3E40A0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C3AF67-F115-E3FC-A47B-8CCF2678BA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8FA525-2598-E923-7D7B-48DD413B9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078F3-69DA-462D-A8B4-EF978B7093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85985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6752D7-BEAE-8B79-D503-966F8CEF4C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1F20AD-ADE9-8561-0AE6-1347D25B1A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B7B382-1A44-01D2-1F38-90FE349FA8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4D35C4-8430-4174-85E2-FE813F3E40A0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6669DD-D05A-7F84-D2E8-5B6205C151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9ED098-8A49-9FFE-7483-86017F8F9C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078F3-69DA-462D-A8B4-EF978B7093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66137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779A510-2692-044E-4AF5-C3707171A73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F3788D-B781-39A1-3E10-D44F05FA76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52A988-FC31-ABFA-937A-70D1045DB8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4D35C4-8430-4174-85E2-FE813F3E40A0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33BEB5-02BD-9EB6-EF84-58FCEBFCA6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0274EE-DE2B-CA28-42E5-E857C38DD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078F3-69DA-462D-A8B4-EF978B7093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01253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99E4BD-B2B6-F733-AF08-84CCD2F400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671B93-0BB4-328E-C711-3521520B21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F86D97-5FDD-923F-7720-72E5D35E64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4D35C4-8430-4174-85E2-FE813F3E40A0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6DEB07-B471-9467-A098-ECC38B9526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43E0E4-6291-DD40-9DDE-CA4DAC48A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078F3-69DA-462D-A8B4-EF978B7093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8331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3535AD-C113-EB56-62E1-93C9F3027B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815E8F-C4C1-ED83-AAC4-3FC16B649F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536492-6414-1B87-728D-F326E0BD66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4D35C4-8430-4174-85E2-FE813F3E40A0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C4D6B1-84C6-250A-7900-F56233E209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E67C0C-531A-8150-152C-B35A66DC52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7078F3-69DA-462D-A8B4-EF978B7093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15877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54E612-8F53-0016-8DE7-CD4BA6B33D5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Track 23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7DC9D15-1DF7-6880-141A-E7CCEE99734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Investor-Grade Urban Mobility Infrastructure Platform | Lagos, Nigeria</a:t>
            </a:r>
          </a:p>
        </p:txBody>
      </p:sp>
    </p:spTree>
    <p:extLst>
      <p:ext uri="{BB962C8B-B14F-4D97-AF65-F5344CB8AC3E}">
        <p14:creationId xmlns:p14="http://schemas.microsoft.com/office/powerpoint/2010/main" val="18380385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3F1C9B-F7D4-B7CD-B16D-C03001776D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1. Investment Thesis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D90FF6-F667-98EF-2816-77856CED21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• Formalize high-demand informal transport corridors with disciplined fleet operations</a:t>
            </a:r>
          </a:p>
          <a:p>
            <a:r>
              <a:rPr lang="en-US"/>
              <a:t>• Convert opaque cash transport into auditable, cashless, investor-grade cash flows</a:t>
            </a:r>
          </a:p>
          <a:p>
            <a:r>
              <a:rPr lang="en-US"/>
              <a:t>• Scale via hub-and-spoke operations and software-led dispatch control</a:t>
            </a:r>
          </a:p>
          <a:p>
            <a:r>
              <a:rPr lang="en-US"/>
              <a:t>• Build an inflation-resilient, asset-backed mobility platform with expansion optionality</a:t>
            </a:r>
          </a:p>
        </p:txBody>
      </p:sp>
    </p:spTree>
    <p:extLst>
      <p:ext uri="{BB962C8B-B14F-4D97-AF65-F5344CB8AC3E}">
        <p14:creationId xmlns:p14="http://schemas.microsoft.com/office/powerpoint/2010/main" val="16114550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1ED4DB-BFDA-BBCE-BC36-4584CEE609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2. Problem and Why Now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CC0FC2-25D5-ED57-54F7-6D82024B76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• Chronic supply-demand mismatch in Lagos urban commuting corridors</a:t>
            </a:r>
          </a:p>
          <a:p>
            <a:r>
              <a:rPr lang="en-US"/>
              <a:t>• Revenue leakage from manual collections and weak treasury controls</a:t>
            </a:r>
          </a:p>
          <a:p>
            <a:r>
              <a:rPr lang="en-US"/>
              <a:t>• Low reliability from unstructured dispatch and poor route intelligence</a:t>
            </a:r>
          </a:p>
          <a:p>
            <a:r>
              <a:rPr lang="en-US"/>
              <a:t>• Safety and compliance gaps in fragmented operator models</a:t>
            </a:r>
          </a:p>
          <a:p>
            <a:r>
              <a:rPr lang="en-US"/>
              <a:t>• Fuel and FX volatility requires dynamic pricing and operational discipline</a:t>
            </a:r>
          </a:p>
        </p:txBody>
      </p:sp>
    </p:spTree>
    <p:extLst>
      <p:ext uri="{BB962C8B-B14F-4D97-AF65-F5344CB8AC3E}">
        <p14:creationId xmlns:p14="http://schemas.microsoft.com/office/powerpoint/2010/main" val="31345998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5CCF80-0002-19A1-A4E3-DB13C26E31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3. Market Opportunity (TAM, SAM, SOM)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D5B1ED-2433-4B0B-F0B8-518A73E0EE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• TAM: total Lagos bus/minibus annual commuter spend</a:t>
            </a:r>
          </a:p>
          <a:p>
            <a:r>
              <a:rPr lang="en-US"/>
              <a:t>• SAM: permit-accessible high-density corridors in Track 23 service envelope</a:t>
            </a:r>
          </a:p>
          <a:p>
            <a:r>
              <a:rPr lang="en-US"/>
              <a:t>• SOM: bottom-up capture = active buses x utilization x fare yield</a:t>
            </a:r>
          </a:p>
          <a:p>
            <a:r>
              <a:rPr lang="en-US"/>
              <a:t>• Underwriting focus: corridor-level unit economics, not headline market size</a:t>
            </a:r>
          </a:p>
        </p:txBody>
      </p:sp>
    </p:spTree>
    <p:extLst>
      <p:ext uri="{BB962C8B-B14F-4D97-AF65-F5344CB8AC3E}">
        <p14:creationId xmlns:p14="http://schemas.microsoft.com/office/powerpoint/2010/main" val="32012484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1499AF-5442-4367-B5C0-01AEFAFF6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4. Business Model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1EE3F5-5877-0AFD-5CF3-69F3511981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• Core revenue: passenger fares on controlled corridors</a:t>
            </a:r>
          </a:p>
          <a:p>
            <a:r>
              <a:rPr lang="en-US"/>
              <a:t>• Additional revenue: corporate contracts, advertising, digital payment economics</a:t>
            </a:r>
          </a:p>
          <a:p>
            <a:r>
              <a:rPr lang="en-US"/>
              <a:t>• Fare strategy: route-level bands, peak/off-peak controls, fuel-indexed reviews</a:t>
            </a:r>
          </a:p>
          <a:p>
            <a:r>
              <a:rPr lang="en-US"/>
              <a:t>• Fleet strategy: rotation-based utilization to protect uptime and asset life</a:t>
            </a:r>
          </a:p>
        </p:txBody>
      </p:sp>
    </p:spTree>
    <p:extLst>
      <p:ext uri="{BB962C8B-B14F-4D97-AF65-F5344CB8AC3E}">
        <p14:creationId xmlns:p14="http://schemas.microsoft.com/office/powerpoint/2010/main" val="6918571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0BDD49-99BE-7858-98EB-5715644A95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5. Technology Stack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A1EA12-14FE-45A7-C541-436FAA9752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• Admin dashboard: route P&amp;L, load factor, punctuality, incident metrics</a:t>
            </a:r>
          </a:p>
          <a:p>
            <a:r>
              <a:rPr lang="en-US"/>
              <a:t>• Driver management: KYC, shift control, behavior scoring, compliance actions</a:t>
            </a:r>
          </a:p>
          <a:p>
            <a:r>
              <a:rPr lang="en-US"/>
              <a:t>• Route intelligence: dispatch optimization and congestion-aware adjustments</a:t>
            </a:r>
          </a:p>
          <a:p>
            <a:r>
              <a:rPr lang="en-US"/>
              <a:t>• Revenue system: digital ticketing, reconciliations, anomaly alerts, audit trails</a:t>
            </a:r>
          </a:p>
          <a:p>
            <a:r>
              <a:rPr lang="en-US"/>
              <a:t>• Passenger interface: USSD-first + QR/smartcard + optional app layer</a:t>
            </a:r>
          </a:p>
        </p:txBody>
      </p:sp>
    </p:spTree>
    <p:extLst>
      <p:ext uri="{BB962C8B-B14F-4D97-AF65-F5344CB8AC3E}">
        <p14:creationId xmlns:p14="http://schemas.microsoft.com/office/powerpoint/2010/main" val="2364524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34D95-EEC6-4035-0789-76695ED91E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6. Operational Design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D61C33-0FD9-862E-9480-339B350DF2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• Fleet acquisition: purchase + lease-to-own + asset-SPV financing</a:t>
            </a:r>
          </a:p>
          <a:p>
            <a:r>
              <a:rPr lang="en-US"/>
              <a:t>• Hub model: central workshop and distributed depots by corridor cluster</a:t>
            </a:r>
          </a:p>
          <a:p>
            <a:r>
              <a:rPr lang="en-US"/>
              <a:t>• Driver incentives: base pay + safety/punctuality bonuses - violation penalties</a:t>
            </a:r>
          </a:p>
          <a:p>
            <a:r>
              <a:rPr lang="en-US"/>
              <a:t>• Fuel/maintenance control: closed-loop cards, telematics variance, preventive schedules</a:t>
            </a:r>
          </a:p>
        </p:txBody>
      </p:sp>
    </p:spTree>
    <p:extLst>
      <p:ext uri="{BB962C8B-B14F-4D97-AF65-F5344CB8AC3E}">
        <p14:creationId xmlns:p14="http://schemas.microsoft.com/office/powerpoint/2010/main" val="39150535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495D9-9E54-6F6F-7430-CA79BA0070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7. 5-Year Scale Plan (Base Case)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44CBB8-CF43-8C98-64D5-AB30A58FF9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• Total fleet: 60 -&gt; 150 -&gt; 320 -&gt; 600 -&gt; 950</a:t>
            </a:r>
          </a:p>
          <a:p>
            <a:r>
              <a:rPr lang="en-US"/>
              <a:t>• Active daily buses: 45 -&gt; 120 -&gt; 260 -&gt; 500 -&gt; 800</a:t>
            </a:r>
          </a:p>
          <a:p>
            <a:r>
              <a:rPr lang="en-US"/>
              <a:t>• Revenue/active bus/year (NGN m): 24.0 -&gt; 27.5 -&gt; 31.0 -&gt; 35.0 -&gt; 39.5</a:t>
            </a:r>
          </a:p>
          <a:p>
            <a:r>
              <a:rPr lang="en-US"/>
              <a:t>• Ancillary revenue mix: 2% in Y1 rising to 8% in Y5</a:t>
            </a:r>
          </a:p>
        </p:txBody>
      </p:sp>
    </p:spTree>
    <p:extLst>
      <p:ext uri="{BB962C8B-B14F-4D97-AF65-F5344CB8AC3E}">
        <p14:creationId xmlns:p14="http://schemas.microsoft.com/office/powerpoint/2010/main" val="12774131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1522E3-3AD0-849D-7D44-32232A230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8. Financial Projection (NGN bn)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173B6E-DE99-49BC-70D6-409C36FDCA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• Y1: Revenue 1.10 | Opex 0.86 | EBITDA 0.24 | Margin 22%</a:t>
            </a:r>
          </a:p>
          <a:p>
            <a:r>
              <a:rPr lang="en-US"/>
              <a:t>• Y2: Revenue 3.40 | Opex 2.45 | EBITDA 0.95 | Margin 28%</a:t>
            </a:r>
          </a:p>
          <a:p>
            <a:r>
              <a:rPr lang="en-US"/>
              <a:t>• Y3: Revenue 8.46 | Opex 5.58 | EBITDA 2.88 | Margin 34%</a:t>
            </a:r>
          </a:p>
          <a:p>
            <a:r>
              <a:rPr lang="en-US"/>
              <a:t>• Y4: Revenue 18.73 | Opex 11.61 | EBITDA 7.12 | Margin 38%</a:t>
            </a:r>
          </a:p>
          <a:p>
            <a:r>
              <a:rPr lang="en-US"/>
              <a:t>• Y5: Revenue 34.13 | Opex 19.80 | EBITDA 14.33 | Margin 42%</a:t>
            </a:r>
          </a:p>
        </p:txBody>
      </p:sp>
    </p:spTree>
    <p:extLst>
      <p:ext uri="{BB962C8B-B14F-4D97-AF65-F5344CB8AC3E}">
        <p14:creationId xmlns:p14="http://schemas.microsoft.com/office/powerpoint/2010/main" val="2993517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C9A32B-3FF2-74FC-8ECC-C21B3349A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9. Capital and Returns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AC0A1D-87F2-1CDE-8D7B-8272ADFA24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• Capex (NGN bn): Y1 2.72 | Y2 3.88 | Y3 7.24 | Y4 11.46 | Y5 14.40</a:t>
            </a:r>
          </a:p>
          <a:p>
            <a:r>
              <a:rPr lang="en-US"/>
              <a:t>• Fleet capex dominates; hubs/workshop/tech are scale enablers</a:t>
            </a:r>
          </a:p>
          <a:p>
            <a:r>
              <a:rPr lang="en-US"/>
              <a:t>• Illustrative exit: 7.0x Y5 EBITDA implies ~NGN 100bn EV</a:t>
            </a:r>
          </a:p>
          <a:p>
            <a:r>
              <a:rPr lang="en-US"/>
              <a:t>• Target outcomes: equity MOIC 3.5x-4.5x, IRR 28%-36%</a:t>
            </a:r>
          </a:p>
        </p:txBody>
      </p:sp>
    </p:spTree>
    <p:extLst>
      <p:ext uri="{BB962C8B-B14F-4D97-AF65-F5344CB8AC3E}">
        <p14:creationId xmlns:p14="http://schemas.microsoft.com/office/powerpoint/2010/main" val="4258720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FF0EE4-5FA4-6A45-2750-159B411CEE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10. Risk Framework and Mitigation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137A03-A2CA-FC33-54DC-C7FA1BFF69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• Inflation/FX: indexed fare governance, sourcing localization, parts buffering</a:t>
            </a:r>
          </a:p>
          <a:p>
            <a:r>
              <a:rPr lang="en-US"/>
              <a:t>• Regulatory: permit-first operations and compliance-grade reporting</a:t>
            </a:r>
          </a:p>
          <a:p>
            <a:r>
              <a:rPr lang="en-US"/>
              <a:t>• Fuel volatility: surcharge bands, efficiency controls, phased CNG/e-mobility</a:t>
            </a:r>
          </a:p>
          <a:p>
            <a:r>
              <a:rPr lang="en-US"/>
              <a:t>• Execution: staged rollout with hurdle-based capex release gates</a:t>
            </a:r>
          </a:p>
        </p:txBody>
      </p:sp>
    </p:spTree>
    <p:extLst>
      <p:ext uri="{BB962C8B-B14F-4D97-AF65-F5344CB8AC3E}">
        <p14:creationId xmlns:p14="http://schemas.microsoft.com/office/powerpoint/2010/main" val="6025604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D80024-3047-1E92-DE70-67D6D91269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11. Expansion and Exit Pathways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A1D658-99A5-1F6D-D691-BC00D3EA66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• Year 1-2: Lagos consolidation with KPI discipline</a:t>
            </a:r>
          </a:p>
          <a:p>
            <a:r>
              <a:rPr lang="en-US"/>
              <a:t>• Year 3: multi-hub Lagos scale and enterprise contracts</a:t>
            </a:r>
          </a:p>
          <a:p>
            <a:r>
              <a:rPr lang="en-US"/>
              <a:t>• Year 4: co-investment/SPV partnership model</a:t>
            </a:r>
          </a:p>
          <a:p>
            <a:r>
              <a:rPr lang="en-US"/>
              <a:t>• Year 5: interstate replication and strategic exit optionality</a:t>
            </a:r>
          </a:p>
          <a:p>
            <a:r>
              <a:rPr lang="en-US"/>
              <a:t>• Exit routes: strategic sale, PE/infra recapitalization, secondary liquidity</a:t>
            </a:r>
          </a:p>
        </p:txBody>
      </p:sp>
    </p:spTree>
    <p:extLst>
      <p:ext uri="{BB962C8B-B14F-4D97-AF65-F5344CB8AC3E}">
        <p14:creationId xmlns:p14="http://schemas.microsoft.com/office/powerpoint/2010/main" val="15741785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81E408-17A3-22E0-9EF0-65484D310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12. Ask and Next Milestones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A7DB84-D135-74B5-9719-58EBAA2B1E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• Approve phased capital program and governance framework</a:t>
            </a:r>
          </a:p>
          <a:p>
            <a:r>
              <a:rPr lang="en-US"/>
              <a:t>• Launch corridor pilots with dashboarded operational KPIs</a:t>
            </a:r>
          </a:p>
          <a:p>
            <a:r>
              <a:rPr lang="en-US"/>
              <a:t>• Lock permit architecture and financing counterparties</a:t>
            </a:r>
          </a:p>
          <a:p>
            <a:r>
              <a:rPr lang="en-US"/>
              <a:t>• Prepare IC package with monthly sensitivity scenarios</a:t>
            </a:r>
          </a:p>
        </p:txBody>
      </p:sp>
    </p:spTree>
    <p:extLst>
      <p:ext uri="{BB962C8B-B14F-4D97-AF65-F5344CB8AC3E}">
        <p14:creationId xmlns:p14="http://schemas.microsoft.com/office/powerpoint/2010/main" val="39416402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710</Words>
  <Application>Microsoft Office PowerPoint</Application>
  <PresentationFormat>Widescreen</PresentationFormat>
  <Paragraphs>66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Track 23</vt:lpstr>
      <vt:lpstr>1. Investment Thesis</vt:lpstr>
      <vt:lpstr>2. Problem and Why Now</vt:lpstr>
      <vt:lpstr>3. Market Opportunity (TAM, SAM, SOM)</vt:lpstr>
      <vt:lpstr>4. Business Model</vt:lpstr>
      <vt:lpstr>5. Technology Stack</vt:lpstr>
      <vt:lpstr>6. Operational Design</vt:lpstr>
      <vt:lpstr>7. 5-Year Scale Plan (Base Case)</vt:lpstr>
      <vt:lpstr>8. Financial Projection (NGN bn)</vt:lpstr>
      <vt:lpstr>9. Capital and Returns</vt:lpstr>
      <vt:lpstr>10. Risk Framework and Mitigation</vt:lpstr>
      <vt:lpstr>11. Expansion and Exit Pathways</vt:lpstr>
      <vt:lpstr>12. Ask and Next Milestones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Olufowobi Olabode</dc:creator>
  <cp:lastModifiedBy>Olufowobi Olabode</cp:lastModifiedBy>
  <cp:revision>1</cp:revision>
  <dcterms:created xsi:type="dcterms:W3CDTF">2026-03-04T12:09:10Z</dcterms:created>
  <dcterms:modified xsi:type="dcterms:W3CDTF">2026-03-04T12:09:10Z</dcterms:modified>
</cp:coreProperties>
</file>